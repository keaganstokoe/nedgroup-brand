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3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yebrow"/>
          <p:cNvSpPr txBox="1"/>
          <p:nvPr>
            <p:ph type="body" idx="10" sz="quarter"/>
          </p:nvPr>
        </p:nvSpPr>
        <p:spPr>
          <a:xfrm>
            <a:off x="640080" y="548640"/>
            <a:ext cx="5486400" cy="457200"/>
          </a:xfrm>
          <a:prstGeom prst="rect">
            <a:avLst/>
          </a:prstGeom>
          <a:noFill/>
        </p:spPr>
        <p:txBody>
          <a:bodyPr wrap="square" anchor="t" lIns="0" rIns="0" tIns="0" bIns="0">
            <a:spAutoFit/>
          </a:bodyPr>
          <a:lstStyle/>
          <a:p>
            <a:pPr marL="0" indent="0">
              <a:defRPr sz="1000" b="0" i="0" spc="240">
                <a:solidFill>
                  <a:srgbClr val="A8CBB9"/>
                </a:solidFill>
                <a:latin typeface="Arial"/>
              </a:defRPr>
              <a:buNone/>
            </a:pPr>
            <a:r>
              <a:t>QUARTERLY COMMENTARY · Q2 2026</a:t>
            </a:r>
          </a:p>
        </p:txBody>
      </p:sp>
      <p:sp>
        <p:nvSpPr>
          <p:cNvPr id="4" name="Rectangle 3"/>
          <p:cNvSpPr/>
          <p:nvPr/>
        </p:nvSpPr>
        <p:spPr>
          <a:xfrm>
            <a:off x="10314432" y="393192"/>
            <a:ext cx="969264" cy="10424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nedgroup-green.png"/>
          <p:cNvPicPr>
            <a:picLocks noChangeAspect="1"/>
          </p:cNvPicPr>
          <p:nvPr/>
        </p:nvPicPr>
        <p:blipFill>
          <a:blip r:embed="rId2"/>
          <a:stretch>
            <a:fillRect/>
          </a:stretch>
        </p:blipFill>
        <p:spPr>
          <a:xfrm>
            <a:off x="10424160" y="502920"/>
            <a:ext cx="883818" cy="822960"/>
          </a:xfrm>
          <a:prstGeom prst="rect">
            <a:avLst/>
          </a:prstGeom>
        </p:spPr>
      </p:pic>
      <p:sp>
        <p:nvSpPr>
          <p:cNvPr id="6" name="Fund title"/>
          <p:cNvSpPr txBox="1"/>
          <p:nvPr>
            <p:ph type="ctrTitle" idx="0"/>
          </p:nvPr>
        </p:nvSpPr>
        <p:spPr>
          <a:xfrm>
            <a:off x="640080" y="1828800"/>
            <a:ext cx="8229600" cy="2011680"/>
          </a:xfrm>
          <a:prstGeom prst="rect">
            <a:avLst/>
          </a:prstGeom>
          <a:noFill/>
        </p:spPr>
        <p:txBody>
          <a:bodyPr wrap="square" anchor="b" lIns="0" rIns="0" tIns="0" bIns="0">
            <a:spAutoFit/>
          </a:bodyPr>
          <a:lstStyle/>
          <a:p>
            <a:pPr marL="0" indent="0">
              <a:defRPr sz="6000" b="0" i="0">
                <a:solidFill>
                  <a:srgbClr val="FFFFFF"/>
                </a:solidFill>
                <a:latin typeface="Georgia"/>
              </a:defRPr>
              <a:buNone/>
            </a:pPr>
            <a:r>
              <a:t>Balanced Fund</a:t>
            </a:r>
          </a:p>
        </p:txBody>
      </p:sp>
      <p:sp>
        <p:nvSpPr>
          <p:cNvPr id="7" name="Subtitle"/>
          <p:cNvSpPr txBox="1"/>
          <p:nvPr>
            <p:ph type="subTitle" idx="1"/>
          </p:nvPr>
        </p:nvSpPr>
        <p:spPr>
          <a:xfrm>
            <a:off x="640080" y="3977639"/>
            <a:ext cx="9144000" cy="457200"/>
          </a:xfrm>
          <a:prstGeom prst="rect">
            <a:avLst/>
          </a:prstGeom>
          <a:noFill/>
        </p:spPr>
        <p:txBody>
          <a:bodyPr wrap="square" anchor="t" lIns="0" rIns="0" tIns="0" bIns="0">
            <a:spAutoFit/>
          </a:bodyPr>
          <a:lstStyle/>
          <a:p>
            <a:pPr marL="0" indent="0">
              <a:defRPr sz="1300" b="0" i="0">
                <a:solidFill>
                  <a:srgbClr val="FFFFFF"/>
                </a:solidFill>
                <a:latin typeface="Arial"/>
              </a:defRPr>
              <a:buNone/>
            </a:pPr>
            <a:r>
              <a:t>Nedgroup Investments · Managed by Truffle Asset Management since 2011</a:t>
            </a:r>
          </a:p>
        </p:txBody>
      </p:sp>
      <p:sp>
        <p:nvSpPr>
          <p:cNvPr id="8" name="Rectangle 7"/>
          <p:cNvSpPr/>
          <p:nvPr/>
        </p:nvSpPr>
        <p:spPr>
          <a:xfrm>
            <a:off x="640080" y="4709160"/>
            <a:ext cx="10908792" cy="9525"/>
          </a:xfrm>
          <a:prstGeom prst="rect">
            <a:avLst/>
          </a:prstGeom>
          <a:solidFill>
            <a:srgbClr val="A8C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1"/>
          <p:cNvSpPr txBox="1"/>
          <p:nvPr>
            <p:ph type="body" idx="20" sz="quarter"/>
          </p:nvPr>
        </p:nvSpPr>
        <p:spPr>
          <a:xfrm>
            <a:off x="640080" y="4846320"/>
            <a:ext cx="2468880" cy="1051560"/>
          </a:xfrm>
          <a:prstGeom prst="rect">
            <a:avLst/>
          </a:prstGeom>
          <a:noFill/>
        </p:spPr>
        <p:txBody>
          <a:bodyPr wrap="square" anchor="t" lIns="0" rIns="0" tIns="0" bIns="0">
            <a:spAutoFit/>
          </a:bodyPr>
          <a:lstStyle/>
          <a:p>
            <a:pPr marL="0" indent="0">
              <a:defRPr sz="3000" b="0" i="0">
                <a:solidFill>
                  <a:srgbClr val="FFFFFF"/>
                </a:solidFill>
                <a:latin typeface="Georgia"/>
              </a:defRPr>
              <a:buNone/>
            </a:pPr>
            <a:r>
              <a:t>2.9%</a:t>
            </a:r>
          </a:p>
          <a:p>
            <a:pPr marL="0" indent="0">
              <a:defRPr sz="900" b="0" i="0" spc="200">
                <a:solidFill>
                  <a:srgbClr val="A8CBB9"/>
                </a:solidFill>
                <a:latin typeface="Arial"/>
              </a:defRPr>
              <a:buNone/>
            </a:pPr>
            <a:r>
              <a:t>Q2 RETURN</a:t>
            </a:r>
          </a:p>
          <a:p>
            <a:pPr marL="0" indent="0">
              <a:defRPr sz="1000" b="0" i="0">
                <a:solidFill>
                  <a:srgbClr val="A8CBB9"/>
                </a:solidFill>
                <a:latin typeface="Arial"/>
              </a:defRPr>
              <a:buNone/>
            </a:pPr>
            <a:r>
              <a:t>Category 2.8%</a:t>
            </a:r>
          </a:p>
        </p:txBody>
      </p:sp>
      <p:sp>
        <p:nvSpPr>
          <p:cNvPr id="10" name="Stat 2"/>
          <p:cNvSpPr txBox="1"/>
          <p:nvPr>
            <p:ph type="body" idx="21" sz="quarter"/>
          </p:nvPr>
        </p:nvSpPr>
        <p:spPr>
          <a:xfrm>
            <a:off x="3364992" y="4846320"/>
            <a:ext cx="2468880" cy="1051560"/>
          </a:xfrm>
          <a:prstGeom prst="rect">
            <a:avLst/>
          </a:prstGeom>
          <a:noFill/>
        </p:spPr>
        <p:txBody>
          <a:bodyPr wrap="square" anchor="t" lIns="0" rIns="0" tIns="0" bIns="0">
            <a:spAutoFit/>
          </a:bodyPr>
          <a:lstStyle/>
          <a:p>
            <a:pPr marL="0" indent="0">
              <a:defRPr sz="3000" b="0" i="0">
                <a:solidFill>
                  <a:srgbClr val="FFFFFF"/>
                </a:solidFill>
                <a:latin typeface="Georgia"/>
              </a:defRPr>
              <a:buNone/>
            </a:pPr>
            <a:r>
              <a:t>13.8%</a:t>
            </a:r>
          </a:p>
          <a:p>
            <a:pPr marL="0" indent="0">
              <a:defRPr sz="900" b="0" i="0" spc="200">
                <a:solidFill>
                  <a:srgbClr val="A8CBB9"/>
                </a:solidFill>
                <a:latin typeface="Arial"/>
              </a:defRPr>
              <a:buNone/>
            </a:pPr>
            <a:r>
              <a:t>12 MONTHS</a:t>
            </a:r>
          </a:p>
          <a:p>
            <a:pPr marL="0" indent="0">
              <a:defRPr sz="1000" b="0" i="0">
                <a:solidFill>
                  <a:srgbClr val="A8CBB9"/>
                </a:solidFill>
                <a:latin typeface="Arial"/>
              </a:defRPr>
              <a:buNone/>
            </a:pPr>
            <a:r>
              <a:t>Category 12.3%</a:t>
            </a:r>
          </a:p>
        </p:txBody>
      </p:sp>
      <p:sp>
        <p:nvSpPr>
          <p:cNvPr id="11" name="Rectangle 10"/>
          <p:cNvSpPr/>
          <p:nvPr/>
        </p:nvSpPr>
        <p:spPr>
          <a:xfrm>
            <a:off x="3108960" y="4846320"/>
            <a:ext cx="9525" cy="1005840"/>
          </a:xfrm>
          <a:prstGeom prst="rect">
            <a:avLst/>
          </a:prstGeom>
          <a:solidFill>
            <a:srgbClr val="A8C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3"/>
          <p:cNvSpPr txBox="1"/>
          <p:nvPr>
            <p:ph type="body" idx="22" sz="quarter"/>
          </p:nvPr>
        </p:nvSpPr>
        <p:spPr>
          <a:xfrm>
            <a:off x="6089904" y="4846320"/>
            <a:ext cx="2468880" cy="1051560"/>
          </a:xfrm>
          <a:prstGeom prst="rect">
            <a:avLst/>
          </a:prstGeom>
          <a:noFill/>
        </p:spPr>
        <p:txBody>
          <a:bodyPr wrap="square" anchor="t" lIns="0" rIns="0" tIns="0" bIns="0">
            <a:spAutoFit/>
          </a:bodyPr>
          <a:lstStyle/>
          <a:p>
            <a:pPr marL="0" indent="0">
              <a:defRPr sz="3000" b="0" i="0">
                <a:solidFill>
                  <a:srgbClr val="FFFFFF"/>
                </a:solidFill>
                <a:latin typeface="Georgia"/>
              </a:defRPr>
              <a:buNone/>
            </a:pPr>
            <a:r>
              <a:t>R17.0bn</a:t>
            </a:r>
          </a:p>
          <a:p>
            <a:pPr marL="0" indent="0">
              <a:defRPr sz="900" b="0" i="0" spc="200">
                <a:solidFill>
                  <a:srgbClr val="A8CBB9"/>
                </a:solidFill>
                <a:latin typeface="Arial"/>
              </a:defRPr>
              <a:buNone/>
            </a:pPr>
            <a:r>
              <a:t>FUND SIZE</a:t>
            </a:r>
          </a:p>
          <a:p>
            <a:pPr marL="0" indent="0">
              <a:defRPr sz="1000" b="0" i="0">
                <a:solidFill>
                  <a:srgbClr val="A8CBB9"/>
                </a:solidFill>
                <a:latin typeface="Arial"/>
              </a:defRPr>
              <a:buNone/>
            </a:pPr>
            <a:r>
              <a:t>30 June 2026</a:t>
            </a:r>
          </a:p>
        </p:txBody>
      </p:sp>
      <p:sp>
        <p:nvSpPr>
          <p:cNvPr id="13" name="Rectangle 12"/>
          <p:cNvSpPr/>
          <p:nvPr/>
        </p:nvSpPr>
        <p:spPr>
          <a:xfrm>
            <a:off x="5833872" y="4846320"/>
            <a:ext cx="9525" cy="1005840"/>
          </a:xfrm>
          <a:prstGeom prst="rect">
            <a:avLst/>
          </a:prstGeom>
          <a:solidFill>
            <a:srgbClr val="A8C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4"/>
          <p:cNvSpPr txBox="1"/>
          <p:nvPr>
            <p:ph type="body" idx="23" sz="quarter"/>
          </p:nvPr>
        </p:nvSpPr>
        <p:spPr>
          <a:xfrm>
            <a:off x="8814816" y="4846320"/>
            <a:ext cx="2468880" cy="1051560"/>
          </a:xfrm>
          <a:prstGeom prst="rect">
            <a:avLst/>
          </a:prstGeom>
          <a:noFill/>
        </p:spPr>
        <p:txBody>
          <a:bodyPr wrap="square" anchor="t" lIns="0" rIns="0" tIns="0" bIns="0">
            <a:spAutoFit/>
          </a:bodyPr>
          <a:lstStyle/>
          <a:p>
            <a:pPr marL="0" indent="0">
              <a:defRPr sz="3000" b="0" i="0">
                <a:solidFill>
                  <a:srgbClr val="FFFFFF"/>
                </a:solidFill>
                <a:latin typeface="Georgia"/>
              </a:defRPr>
              <a:buNone/>
            </a:pPr>
            <a:r>
              <a:t>+2.5%</a:t>
            </a:r>
          </a:p>
          <a:p>
            <a:pPr marL="0" indent="0">
              <a:defRPr sz="900" b="0" i="0" spc="200">
                <a:solidFill>
                  <a:srgbClr val="A8CBB9"/>
                </a:solidFill>
                <a:latin typeface="Arial"/>
              </a:defRPr>
              <a:buNone/>
            </a:pPr>
            <a:r>
              <a:t>ANNUALISED EXCESS</a:t>
            </a:r>
          </a:p>
          <a:p>
            <a:pPr marL="0" indent="0">
              <a:defRPr sz="1000" b="0" i="0">
                <a:solidFill>
                  <a:srgbClr val="A8CBB9"/>
                </a:solidFill>
                <a:latin typeface="Arial"/>
              </a:defRPr>
              <a:buNone/>
            </a:pPr>
            <a:r>
              <a:t>Since inception</a:t>
            </a:r>
          </a:p>
        </p:txBody>
      </p:sp>
      <p:sp>
        <p:nvSpPr>
          <p:cNvPr id="15" name="Rectangle 14"/>
          <p:cNvSpPr/>
          <p:nvPr/>
        </p:nvSpPr>
        <p:spPr>
          <a:xfrm>
            <a:off x="8558784" y="4846320"/>
            <a:ext cx="9525" cy="1005840"/>
          </a:xfrm>
          <a:prstGeom prst="rect">
            <a:avLst/>
          </a:prstGeom>
          <a:solidFill>
            <a:srgbClr val="A8C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6035040"/>
            <a:ext cx="10908792" cy="9525"/>
          </a:xfrm>
          <a:prstGeom prst="rect">
            <a:avLst/>
          </a:prstGeom>
          <a:solidFill>
            <a:srgbClr val="A8CB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tegory line"/>
          <p:cNvSpPr txBox="1"/>
          <p:nvPr>
            <p:ph type="body" idx="30" sz="quarter"/>
          </p:nvPr>
        </p:nvSpPr>
        <p:spPr>
          <a:xfrm>
            <a:off x="640080" y="6172200"/>
            <a:ext cx="7315200" cy="320040"/>
          </a:xfrm>
          <a:prstGeom prst="rect">
            <a:avLst/>
          </a:prstGeom>
          <a:noFill/>
        </p:spPr>
        <p:txBody>
          <a:bodyPr wrap="square" anchor="t" lIns="0" rIns="0" tIns="0" bIns="0">
            <a:spAutoFit/>
          </a:bodyPr>
          <a:lstStyle/>
          <a:p>
            <a:pPr marL="0" indent="0">
              <a:defRPr sz="900" b="0" i="0" spc="200">
                <a:solidFill>
                  <a:srgbClr val="A8CBB9"/>
                </a:solidFill>
                <a:latin typeface="Arial"/>
              </a:defRPr>
              <a:buNone/>
            </a:pPr>
            <a:r>
              <a:t>SOUTH AFRICAN MULTI ASSET · HIGH EQUITY · REGULATION 28 COMPLIANT</a:t>
            </a:r>
          </a:p>
        </p:txBody>
      </p:sp>
      <p:sp>
        <p:nvSpPr>
          <p:cNvPr id="18" name="TextBox 17"/>
          <p:cNvSpPr txBox="1"/>
          <p:nvPr/>
        </p:nvSpPr>
        <p:spPr>
          <a:xfrm>
            <a:off x="8229600" y="6126480"/>
            <a:ext cx="3319272" cy="365760"/>
          </a:xfrm>
          <a:prstGeom prst="rect">
            <a:avLst/>
          </a:prstGeom>
          <a:noFill/>
        </p:spPr>
        <p:txBody>
          <a:bodyPr wrap="square" lIns="0" rIns="0" tIns="0" bIns="0" anchor="t">
            <a:spAutoFit/>
          </a:bodyPr>
          <a:lstStyle/>
          <a:p>
            <a:pPr algn="r"/>
            <a:r>
              <a:rPr sz="1600" b="0" i="1">
                <a:solidFill>
                  <a:srgbClr val="FFFFFF"/>
                </a:solidFill>
                <a:latin typeface="Georgia"/>
              </a:rPr>
              <a:t>see money differently</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Fund and manager">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FUND AND MANAGER</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eadline"/>
          <p:cNvSpPr txBox="1"/>
          <p:nvPr>
            <p:ph type="title" idx="0"/>
          </p:nvPr>
        </p:nvSpPr>
        <p:spPr>
          <a:xfrm>
            <a:off x="640080" y="1097280"/>
            <a:ext cx="10881360" cy="822960"/>
          </a:xfrm>
          <a:prstGeom prst="rect">
            <a:avLst/>
          </a:prstGeom>
          <a:noFill/>
        </p:spPr>
        <p:txBody>
          <a:bodyPr wrap="square" anchor="t" lIns="0" rIns="0" tIns="0" bIns="0">
            <a:spAutoFit/>
          </a:bodyPr>
          <a:lstStyle/>
          <a:p>
            <a:pPr marL="0" indent="0">
              <a:defRPr sz="3000" b="0" i="0">
                <a:solidFill>
                  <a:srgbClr val="16211C"/>
                </a:solidFill>
                <a:latin typeface="Georgia"/>
              </a:defRPr>
              <a:buNone/>
            </a:pPr>
            <a:r>
              <a:t>Markets have largely moved on from the Iran conflict</a:t>
            </a:r>
          </a:p>
        </p:txBody>
      </p:sp>
      <p:sp>
        <p:nvSpPr>
          <p:cNvPr id="9" name="Investment approach"/>
          <p:cNvSpPr txBox="1"/>
          <p:nvPr>
            <p:ph type="body" idx="1" sz="quarter"/>
          </p:nvPr>
        </p:nvSpPr>
        <p:spPr>
          <a:xfrm>
            <a:off x="640080" y="2103120"/>
            <a:ext cx="4937760" cy="3840480"/>
          </a:xfrm>
          <a:prstGeom prst="rect">
            <a:avLst/>
          </a:prstGeom>
          <a:noFill/>
        </p:spPr>
        <p:txBody>
          <a:bodyPr wrap="square" anchor="t" lIns="0" rIns="0" tIns="0" bIns="0">
            <a:spAutoFit/>
          </a:bodyPr>
          <a:lstStyle/>
          <a:p>
            <a:pPr marL="0" indent="0">
              <a:defRPr sz="900" b="0" i="0" spc="200">
                <a:solidFill>
                  <a:srgbClr val="8B968F"/>
                </a:solidFill>
                <a:latin typeface="Arial"/>
              </a:defRPr>
              <a:buNone/>
            </a:pPr>
            <a:r>
              <a:t>INVESTMENT APPROACH</a:t>
            </a:r>
          </a:p>
          <a:p>
            <a:pPr marL="0" indent="0">
              <a:defRPr sz="1300" b="0" i="0">
                <a:solidFill>
                  <a:srgbClr val="16211C"/>
                </a:solidFill>
                <a:latin typeface="Arial"/>
              </a:defRPr>
              <a:buNone/>
            </a:pPr>
            <a:r>
              <a:t>Agile asset allocation and security selection</a:t>
            </a:r>
          </a:p>
          <a:p>
            <a:pPr marL="0" indent="0">
              <a:defRPr sz="1300" b="0" i="0">
                <a:solidFill>
                  <a:srgbClr val="16211C"/>
                </a:solidFill>
                <a:latin typeface="Arial"/>
              </a:defRPr>
              <a:buNone/>
            </a:pPr>
            <a:r>
              <a:t>Risk-aware focus on capital protection</a:t>
            </a:r>
          </a:p>
          <a:p>
            <a:pPr marL="0" indent="0">
              <a:defRPr sz="1300" b="0" i="0">
                <a:solidFill>
                  <a:srgbClr val="16211C"/>
                </a:solidFill>
                <a:latin typeface="Arial"/>
              </a:defRPr>
              <a:buNone/>
            </a:pPr>
            <a:r>
              <a:t>Portfolio managers with 25+ years of experience</a:t>
            </a:r>
          </a:p>
          <a:p>
            <a:pPr marL="0" indent="0">
              <a:defRPr sz="800" b="0" i="0">
                <a:solidFill>
                  <a:srgbClr val="16211C"/>
                </a:solidFill>
                <a:latin typeface="Arial"/>
              </a:defRPr>
              <a:buNone/>
            </a:pPr>
          </a:p>
          <a:p>
            <a:pPr marL="0" indent="0">
              <a:defRPr sz="900" b="0" i="0" spc="200">
                <a:solidFill>
                  <a:srgbClr val="8B968F"/>
                </a:solidFill>
                <a:latin typeface="Arial"/>
              </a:defRPr>
              <a:buNone/>
            </a:pPr>
            <a:r>
              <a:t>PORTFOLIO MANAGERS</a:t>
            </a:r>
          </a:p>
          <a:p>
            <a:pPr marL="0" indent="0">
              <a:defRPr sz="1300" b="0" i="0">
                <a:solidFill>
                  <a:srgbClr val="16211C"/>
                </a:solidFill>
                <a:latin typeface="Arial"/>
              </a:defRPr>
              <a:buNone/>
            </a:pPr>
            <a:r>
              <a:t>Iain Power, Saul Miller, Nicole Agar</a:t>
            </a:r>
          </a:p>
        </p:txBody>
      </p:sp>
      <p:sp>
        <p:nvSpPr>
          <p:cNvPr id="10" name="Market context"/>
          <p:cNvSpPr txBox="1"/>
          <p:nvPr>
            <p:ph type="body" idx="2" sz="quarter"/>
          </p:nvPr>
        </p:nvSpPr>
        <p:spPr>
          <a:xfrm>
            <a:off x="5943600" y="2103120"/>
            <a:ext cx="5605272" cy="3840480"/>
          </a:xfrm>
          <a:prstGeom prst="rect">
            <a:avLst/>
          </a:prstGeom>
          <a:noFill/>
        </p:spPr>
        <p:txBody>
          <a:bodyPr wrap="square" anchor="t" lIns="0" rIns="0" tIns="0" bIns="0">
            <a:spAutoFit/>
          </a:bodyPr>
          <a:lstStyle/>
          <a:p>
            <a:pPr marL="0" indent="0">
              <a:defRPr sz="1300" b="0" i="0">
                <a:solidFill>
                  <a:srgbClr val="16211C"/>
                </a:solidFill>
                <a:latin typeface="Arial"/>
              </a:defRPr>
              <a:buNone/>
            </a:pPr>
            <a:r>
              <a:t>Market context for the period, 120–180 words, in the fund manager’s framing.</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Update · Performance Commentary">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QUARTERLY PORTFOLIO UPDATE</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97280"/>
            <a:ext cx="10908792" cy="914400"/>
          </a:xfrm>
          <a:prstGeom prst="rect">
            <a:avLst/>
          </a:prstGeom>
          <a:solidFill>
            <a:srgbClr val="FFFFFF"/>
          </a:solidFill>
          <a:ln w="9525">
            <a:solidFill>
              <a:srgbClr val="D8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1"/>
          <p:cNvSpPr txBox="1"/>
          <p:nvPr>
            <p:ph type="body" idx="20" sz="quarter"/>
          </p:nvPr>
        </p:nvSpPr>
        <p:spPr>
          <a:xfrm>
            <a:off x="868680" y="1207008"/>
            <a:ext cx="3383280" cy="731520"/>
          </a:xfrm>
          <a:prstGeom prst="rect">
            <a:avLst/>
          </a:prstGeom>
          <a:noFill/>
        </p:spPr>
        <p:txBody>
          <a:bodyPr wrap="square" anchor="t" lIns="0" rIns="0" tIns="0" bIns="0">
            <a:spAutoFit/>
          </a:bodyPr>
          <a:lstStyle/>
          <a:p>
            <a:pPr marL="0" indent="0">
              <a:defRPr sz="900" b="0" i="0" spc="200">
                <a:solidFill>
                  <a:srgbClr val="8B968F"/>
                </a:solidFill>
                <a:latin typeface="Arial"/>
              </a:defRPr>
              <a:buNone/>
            </a:pPr>
            <a:r>
              <a:t>PERFORMANCE TO 30 JUNE 2026</a:t>
            </a:r>
          </a:p>
          <a:p>
            <a:pPr marL="0" indent="0">
              <a:defRPr sz="1100" b="0" i="0">
                <a:solidFill>
                  <a:srgbClr val="5D6B63"/>
                </a:solidFill>
                <a:latin typeface="Arial"/>
              </a:defRPr>
              <a:buNone/>
            </a:pPr>
            <a:r>
              <a:t>A2 class, net of fees, versus the ASISA category average</a:t>
            </a:r>
          </a:p>
        </p:txBody>
      </p:sp>
      <p:sp>
        <p:nvSpPr>
          <p:cNvPr id="10" name="Stat 2"/>
          <p:cNvSpPr txBox="1"/>
          <p:nvPr>
            <p:ph type="body" idx="21" sz="quarter"/>
          </p:nvPr>
        </p:nvSpPr>
        <p:spPr>
          <a:xfrm>
            <a:off x="4507992"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3 months · Fund   2.9%</a:t>
            </a:r>
          </a:p>
          <a:p>
            <a:pPr marL="0" indent="0">
              <a:defRPr sz="1200" b="0" i="0">
                <a:solidFill>
                  <a:srgbClr val="5D6B63"/>
                </a:solidFill>
                <a:latin typeface="Arial"/>
              </a:defRPr>
              <a:buNone/>
            </a:pPr>
            <a:r>
              <a:t>3 months · Category   2.8%</a:t>
            </a:r>
          </a:p>
        </p:txBody>
      </p:sp>
      <p:sp>
        <p:nvSpPr>
          <p:cNvPr id="11" name="Rectangle 10"/>
          <p:cNvSpPr/>
          <p:nvPr/>
        </p:nvSpPr>
        <p:spPr>
          <a:xfrm>
            <a:off x="4279392"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3"/>
          <p:cNvSpPr txBox="1"/>
          <p:nvPr>
            <p:ph type="body" idx="22" sz="quarter"/>
          </p:nvPr>
        </p:nvSpPr>
        <p:spPr>
          <a:xfrm>
            <a:off x="8147304"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12 months · Fund   13.8%</a:t>
            </a:r>
          </a:p>
          <a:p>
            <a:pPr marL="0" indent="0">
              <a:defRPr sz="1200" b="0" i="0">
                <a:solidFill>
                  <a:srgbClr val="5D6B63"/>
                </a:solidFill>
                <a:latin typeface="Arial"/>
              </a:defRPr>
              <a:buNone/>
            </a:pPr>
            <a:r>
              <a:t>12 months · Category   12.3%</a:t>
            </a:r>
          </a:p>
        </p:txBody>
      </p:sp>
      <p:sp>
        <p:nvSpPr>
          <p:cNvPr id="13" name="Rectangle 12"/>
          <p:cNvSpPr/>
          <p:nvPr/>
        </p:nvSpPr>
        <p:spPr>
          <a:xfrm>
            <a:off x="7918704"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31720"/>
            <a:ext cx="548640" cy="274320"/>
          </a:xfrm>
          <a:prstGeom prst="rect">
            <a:avLst/>
          </a:prstGeom>
          <a:noFill/>
        </p:spPr>
        <p:txBody>
          <a:bodyPr wrap="square" lIns="0" rIns="0" tIns="0" bIns="0" anchor="t">
            <a:spAutoFit/>
          </a:bodyPr>
          <a:lstStyle/>
          <a:p>
            <a:pPr algn="l"/>
            <a:r>
              <a:rPr sz="900" b="0" i="0">
                <a:solidFill>
                  <a:srgbClr val="A8CBB9"/>
                </a:solidFill>
                <a:latin typeface="Courier New"/>
              </a:rPr>
              <a:t>01</a:t>
            </a:r>
          </a:p>
        </p:txBody>
      </p:sp>
      <p:sp>
        <p:nvSpPr>
          <p:cNvPr id="15" name="Block heading"/>
          <p:cNvSpPr txBox="1"/>
          <p:nvPr>
            <p:ph type="title" idx="0"/>
          </p:nvPr>
        </p:nvSpPr>
        <p:spPr>
          <a:xfrm>
            <a:off x="640080" y="2606040"/>
            <a:ext cx="2926080" cy="1463040"/>
          </a:xfrm>
          <a:prstGeom prst="rect">
            <a:avLst/>
          </a:prstGeom>
          <a:noFill/>
        </p:spPr>
        <p:txBody>
          <a:bodyPr wrap="square" anchor="t" lIns="0" rIns="0" tIns="0" bIns="0">
            <a:spAutoFit/>
          </a:bodyPr>
          <a:lstStyle/>
          <a:p>
            <a:pPr marL="0" indent="0">
              <a:defRPr sz="2400" b="0" i="0">
                <a:solidFill>
                  <a:srgbClr val="0B5138"/>
                </a:solidFill>
                <a:latin typeface="Georgia"/>
              </a:defRPr>
              <a:buNone/>
            </a:pPr>
            <a:r>
              <a:t>Performance Commentary</a:t>
            </a:r>
          </a:p>
        </p:txBody>
      </p:sp>
      <p:sp>
        <p:nvSpPr>
          <p:cNvPr id="16" name="Block text"/>
          <p:cNvSpPr txBox="1"/>
          <p:nvPr>
            <p:ph type="body" idx="1" sz="quarter"/>
          </p:nvPr>
        </p:nvSpPr>
        <p:spPr>
          <a:xfrm>
            <a:off x="3931920" y="2377440"/>
            <a:ext cx="7616952" cy="3749039"/>
          </a:xfrm>
          <a:prstGeom prst="rect">
            <a:avLst/>
          </a:prstGeom>
          <a:noFill/>
        </p:spPr>
        <p:txBody>
          <a:bodyPr wrap="square" anchor="t" lIns="0" rIns="0" tIns="0" bIns="0">
            <a:spAutoFit/>
          </a:bodyPr>
          <a:lstStyle/>
          <a:p>
            <a:pPr marL="0" indent="0">
              <a:defRPr sz="1300" b="0" i="0">
                <a:solidFill>
                  <a:srgbClr val="16211C"/>
                </a:solidFill>
                <a:latin typeface="Arial"/>
              </a:defRPr>
              <a:buNone/>
            </a:pPr>
            <a:r>
              <a:t>Performance Commentary: 80–160 words. Every number benchmark-relative with the benchmark named in full on first use.</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Update · Attribution Commentary">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QUARTERLY PORTFOLIO UPDATE</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97280"/>
            <a:ext cx="10908792" cy="914400"/>
          </a:xfrm>
          <a:prstGeom prst="rect">
            <a:avLst/>
          </a:prstGeom>
          <a:solidFill>
            <a:srgbClr val="FFFFFF"/>
          </a:solidFill>
          <a:ln w="9525">
            <a:solidFill>
              <a:srgbClr val="D8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1"/>
          <p:cNvSpPr txBox="1"/>
          <p:nvPr>
            <p:ph type="body" idx="20" sz="quarter"/>
          </p:nvPr>
        </p:nvSpPr>
        <p:spPr>
          <a:xfrm>
            <a:off x="868680" y="1207008"/>
            <a:ext cx="3383280" cy="731520"/>
          </a:xfrm>
          <a:prstGeom prst="rect">
            <a:avLst/>
          </a:prstGeom>
          <a:noFill/>
        </p:spPr>
        <p:txBody>
          <a:bodyPr wrap="square" anchor="t" lIns="0" rIns="0" tIns="0" bIns="0">
            <a:spAutoFit/>
          </a:bodyPr>
          <a:lstStyle/>
          <a:p>
            <a:pPr marL="0" indent="0">
              <a:defRPr sz="900" b="0" i="0" spc="200">
                <a:solidFill>
                  <a:srgbClr val="8B968F"/>
                </a:solidFill>
                <a:latin typeface="Arial"/>
              </a:defRPr>
              <a:buNone/>
            </a:pPr>
            <a:r>
              <a:t>PERFORMANCE TO 30 JUNE 2026</a:t>
            </a:r>
          </a:p>
          <a:p>
            <a:pPr marL="0" indent="0">
              <a:defRPr sz="1100" b="0" i="0">
                <a:solidFill>
                  <a:srgbClr val="5D6B63"/>
                </a:solidFill>
                <a:latin typeface="Arial"/>
              </a:defRPr>
              <a:buNone/>
            </a:pPr>
            <a:r>
              <a:t>A2 class, net of fees, versus the ASISA category average</a:t>
            </a:r>
          </a:p>
        </p:txBody>
      </p:sp>
      <p:sp>
        <p:nvSpPr>
          <p:cNvPr id="10" name="Stat 2"/>
          <p:cNvSpPr txBox="1"/>
          <p:nvPr>
            <p:ph type="body" idx="21" sz="quarter"/>
          </p:nvPr>
        </p:nvSpPr>
        <p:spPr>
          <a:xfrm>
            <a:off x="4507992"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3 months · Fund   2.9%</a:t>
            </a:r>
          </a:p>
          <a:p>
            <a:pPr marL="0" indent="0">
              <a:defRPr sz="1200" b="0" i="0">
                <a:solidFill>
                  <a:srgbClr val="5D6B63"/>
                </a:solidFill>
                <a:latin typeface="Arial"/>
              </a:defRPr>
              <a:buNone/>
            </a:pPr>
            <a:r>
              <a:t>3 months · Category   2.8%</a:t>
            </a:r>
          </a:p>
        </p:txBody>
      </p:sp>
      <p:sp>
        <p:nvSpPr>
          <p:cNvPr id="11" name="Rectangle 10"/>
          <p:cNvSpPr/>
          <p:nvPr/>
        </p:nvSpPr>
        <p:spPr>
          <a:xfrm>
            <a:off x="4279392"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3"/>
          <p:cNvSpPr txBox="1"/>
          <p:nvPr>
            <p:ph type="body" idx="22" sz="quarter"/>
          </p:nvPr>
        </p:nvSpPr>
        <p:spPr>
          <a:xfrm>
            <a:off x="8147304"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12 months · Fund   13.8%</a:t>
            </a:r>
          </a:p>
          <a:p>
            <a:pPr marL="0" indent="0">
              <a:defRPr sz="1200" b="0" i="0">
                <a:solidFill>
                  <a:srgbClr val="5D6B63"/>
                </a:solidFill>
                <a:latin typeface="Arial"/>
              </a:defRPr>
              <a:buNone/>
            </a:pPr>
            <a:r>
              <a:t>12 months · Category   12.3%</a:t>
            </a:r>
          </a:p>
        </p:txBody>
      </p:sp>
      <p:sp>
        <p:nvSpPr>
          <p:cNvPr id="13" name="Rectangle 12"/>
          <p:cNvSpPr/>
          <p:nvPr/>
        </p:nvSpPr>
        <p:spPr>
          <a:xfrm>
            <a:off x="7918704"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31720"/>
            <a:ext cx="548640" cy="274320"/>
          </a:xfrm>
          <a:prstGeom prst="rect">
            <a:avLst/>
          </a:prstGeom>
          <a:noFill/>
        </p:spPr>
        <p:txBody>
          <a:bodyPr wrap="square" lIns="0" rIns="0" tIns="0" bIns="0" anchor="t">
            <a:spAutoFit/>
          </a:bodyPr>
          <a:lstStyle/>
          <a:p>
            <a:pPr algn="l"/>
            <a:r>
              <a:rPr sz="900" b="0" i="0">
                <a:solidFill>
                  <a:srgbClr val="A8CBB9"/>
                </a:solidFill>
                <a:latin typeface="Courier New"/>
              </a:rPr>
              <a:t>02</a:t>
            </a:r>
          </a:p>
        </p:txBody>
      </p:sp>
      <p:sp>
        <p:nvSpPr>
          <p:cNvPr id="15" name="Block heading"/>
          <p:cNvSpPr txBox="1"/>
          <p:nvPr>
            <p:ph type="title" idx="0"/>
          </p:nvPr>
        </p:nvSpPr>
        <p:spPr>
          <a:xfrm>
            <a:off x="640080" y="2606040"/>
            <a:ext cx="2926080" cy="1463040"/>
          </a:xfrm>
          <a:prstGeom prst="rect">
            <a:avLst/>
          </a:prstGeom>
          <a:noFill/>
        </p:spPr>
        <p:txBody>
          <a:bodyPr wrap="square" anchor="t" lIns="0" rIns="0" tIns="0" bIns="0">
            <a:spAutoFit/>
          </a:bodyPr>
          <a:lstStyle/>
          <a:p>
            <a:pPr marL="0" indent="0">
              <a:defRPr sz="2400" b="0" i="0">
                <a:solidFill>
                  <a:srgbClr val="0B5138"/>
                </a:solidFill>
                <a:latin typeface="Georgia"/>
              </a:defRPr>
              <a:buNone/>
            </a:pPr>
            <a:r>
              <a:t>Attribution Commentary</a:t>
            </a:r>
          </a:p>
        </p:txBody>
      </p:sp>
      <p:sp>
        <p:nvSpPr>
          <p:cNvPr id="16" name="Block text"/>
          <p:cNvSpPr txBox="1"/>
          <p:nvPr>
            <p:ph type="body" idx="1" sz="quarter"/>
          </p:nvPr>
        </p:nvSpPr>
        <p:spPr>
          <a:xfrm>
            <a:off x="3931920" y="2377440"/>
            <a:ext cx="7616952" cy="3749039"/>
          </a:xfrm>
          <a:prstGeom prst="rect">
            <a:avLst/>
          </a:prstGeom>
          <a:noFill/>
        </p:spPr>
        <p:txBody>
          <a:bodyPr wrap="square" anchor="t" lIns="0" rIns="0" tIns="0" bIns="0">
            <a:spAutoFit/>
          </a:bodyPr>
          <a:lstStyle/>
          <a:p>
            <a:pPr marL="0" indent="0">
              <a:defRPr sz="1300" b="0" i="0">
                <a:solidFill>
                  <a:srgbClr val="16211C"/>
                </a:solidFill>
                <a:latin typeface="Arial"/>
              </a:defRPr>
              <a:buNone/>
            </a:pPr>
            <a:r>
              <a:t>Attribution Commentary: 80–160 words. Every number benchmark-relative with the benchmark named in full on first use.</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pdate · Fund Positioning">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QUARTERLY PORTFOLIO UPDATE</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97280"/>
            <a:ext cx="10908792" cy="914400"/>
          </a:xfrm>
          <a:prstGeom prst="rect">
            <a:avLst/>
          </a:prstGeom>
          <a:solidFill>
            <a:srgbClr val="FFFFFF"/>
          </a:solidFill>
          <a:ln w="9525">
            <a:solidFill>
              <a:srgbClr val="D8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1"/>
          <p:cNvSpPr txBox="1"/>
          <p:nvPr>
            <p:ph type="body" idx="20" sz="quarter"/>
          </p:nvPr>
        </p:nvSpPr>
        <p:spPr>
          <a:xfrm>
            <a:off x="868680" y="1207008"/>
            <a:ext cx="3383280" cy="731520"/>
          </a:xfrm>
          <a:prstGeom prst="rect">
            <a:avLst/>
          </a:prstGeom>
          <a:noFill/>
        </p:spPr>
        <p:txBody>
          <a:bodyPr wrap="square" anchor="t" lIns="0" rIns="0" tIns="0" bIns="0">
            <a:spAutoFit/>
          </a:bodyPr>
          <a:lstStyle/>
          <a:p>
            <a:pPr marL="0" indent="0">
              <a:defRPr sz="900" b="0" i="0" spc="200">
                <a:solidFill>
                  <a:srgbClr val="8B968F"/>
                </a:solidFill>
                <a:latin typeface="Arial"/>
              </a:defRPr>
              <a:buNone/>
            </a:pPr>
            <a:r>
              <a:t>PERFORMANCE TO 30 JUNE 2026</a:t>
            </a:r>
          </a:p>
          <a:p>
            <a:pPr marL="0" indent="0">
              <a:defRPr sz="1100" b="0" i="0">
                <a:solidFill>
                  <a:srgbClr val="5D6B63"/>
                </a:solidFill>
                <a:latin typeface="Arial"/>
              </a:defRPr>
              <a:buNone/>
            </a:pPr>
            <a:r>
              <a:t>A2 class, net of fees, versus the ASISA category average</a:t>
            </a:r>
          </a:p>
        </p:txBody>
      </p:sp>
      <p:sp>
        <p:nvSpPr>
          <p:cNvPr id="10" name="Stat 2"/>
          <p:cNvSpPr txBox="1"/>
          <p:nvPr>
            <p:ph type="body" idx="21" sz="quarter"/>
          </p:nvPr>
        </p:nvSpPr>
        <p:spPr>
          <a:xfrm>
            <a:off x="4507992"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3 months · Fund   2.9%</a:t>
            </a:r>
          </a:p>
          <a:p>
            <a:pPr marL="0" indent="0">
              <a:defRPr sz="1200" b="0" i="0">
                <a:solidFill>
                  <a:srgbClr val="5D6B63"/>
                </a:solidFill>
                <a:latin typeface="Arial"/>
              </a:defRPr>
              <a:buNone/>
            </a:pPr>
            <a:r>
              <a:t>3 months · Category   2.8%</a:t>
            </a:r>
          </a:p>
        </p:txBody>
      </p:sp>
      <p:sp>
        <p:nvSpPr>
          <p:cNvPr id="11" name="Rectangle 10"/>
          <p:cNvSpPr/>
          <p:nvPr/>
        </p:nvSpPr>
        <p:spPr>
          <a:xfrm>
            <a:off x="4279392"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3"/>
          <p:cNvSpPr txBox="1"/>
          <p:nvPr>
            <p:ph type="body" idx="22" sz="quarter"/>
          </p:nvPr>
        </p:nvSpPr>
        <p:spPr>
          <a:xfrm>
            <a:off x="8147304" y="1207008"/>
            <a:ext cx="3383280" cy="731520"/>
          </a:xfrm>
          <a:prstGeom prst="rect">
            <a:avLst/>
          </a:prstGeom>
          <a:noFill/>
        </p:spPr>
        <p:txBody>
          <a:bodyPr wrap="square" anchor="t" lIns="0" rIns="0" tIns="0" bIns="0">
            <a:spAutoFit/>
          </a:bodyPr>
          <a:lstStyle/>
          <a:p>
            <a:pPr marL="0" indent="0">
              <a:defRPr sz="1200" b="1" i="0">
                <a:solidFill>
                  <a:srgbClr val="16211C"/>
                </a:solidFill>
                <a:latin typeface="Arial"/>
              </a:defRPr>
              <a:buNone/>
            </a:pPr>
            <a:r>
              <a:t>12 months · Fund   13.8%</a:t>
            </a:r>
          </a:p>
          <a:p>
            <a:pPr marL="0" indent="0">
              <a:defRPr sz="1200" b="0" i="0">
                <a:solidFill>
                  <a:srgbClr val="5D6B63"/>
                </a:solidFill>
                <a:latin typeface="Arial"/>
              </a:defRPr>
              <a:buNone/>
            </a:pPr>
            <a:r>
              <a:t>12 months · Category   12.3%</a:t>
            </a:r>
          </a:p>
        </p:txBody>
      </p:sp>
      <p:sp>
        <p:nvSpPr>
          <p:cNvPr id="13" name="Rectangle 12"/>
          <p:cNvSpPr/>
          <p:nvPr/>
        </p:nvSpPr>
        <p:spPr>
          <a:xfrm>
            <a:off x="7918704" y="1097280"/>
            <a:ext cx="9525" cy="914400"/>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331720"/>
            <a:ext cx="548640" cy="274320"/>
          </a:xfrm>
          <a:prstGeom prst="rect">
            <a:avLst/>
          </a:prstGeom>
          <a:noFill/>
        </p:spPr>
        <p:txBody>
          <a:bodyPr wrap="square" lIns="0" rIns="0" tIns="0" bIns="0" anchor="t">
            <a:spAutoFit/>
          </a:bodyPr>
          <a:lstStyle/>
          <a:p>
            <a:pPr algn="l"/>
            <a:r>
              <a:rPr sz="900" b="0" i="0">
                <a:solidFill>
                  <a:srgbClr val="A8CBB9"/>
                </a:solidFill>
                <a:latin typeface="Courier New"/>
              </a:rPr>
              <a:t>03</a:t>
            </a:r>
          </a:p>
        </p:txBody>
      </p:sp>
      <p:sp>
        <p:nvSpPr>
          <p:cNvPr id="15" name="Block heading"/>
          <p:cNvSpPr txBox="1"/>
          <p:nvPr>
            <p:ph type="title" idx="0"/>
          </p:nvPr>
        </p:nvSpPr>
        <p:spPr>
          <a:xfrm>
            <a:off x="640080" y="2606040"/>
            <a:ext cx="2926080" cy="1463040"/>
          </a:xfrm>
          <a:prstGeom prst="rect">
            <a:avLst/>
          </a:prstGeom>
          <a:noFill/>
        </p:spPr>
        <p:txBody>
          <a:bodyPr wrap="square" anchor="t" lIns="0" rIns="0" tIns="0" bIns="0">
            <a:spAutoFit/>
          </a:bodyPr>
          <a:lstStyle/>
          <a:p>
            <a:pPr marL="0" indent="0">
              <a:defRPr sz="2400" b="0" i="0">
                <a:solidFill>
                  <a:srgbClr val="0B5138"/>
                </a:solidFill>
                <a:latin typeface="Georgia"/>
              </a:defRPr>
              <a:buNone/>
            </a:pPr>
            <a:r>
              <a:t>Fund Positioning</a:t>
            </a:r>
          </a:p>
        </p:txBody>
      </p:sp>
      <p:sp>
        <p:nvSpPr>
          <p:cNvPr id="16" name="Block text"/>
          <p:cNvSpPr txBox="1"/>
          <p:nvPr>
            <p:ph type="body" idx="1" sz="quarter"/>
          </p:nvPr>
        </p:nvSpPr>
        <p:spPr>
          <a:xfrm>
            <a:off x="3931920" y="2377440"/>
            <a:ext cx="7616952" cy="3749039"/>
          </a:xfrm>
          <a:prstGeom prst="rect">
            <a:avLst/>
          </a:prstGeom>
          <a:noFill/>
        </p:spPr>
        <p:txBody>
          <a:bodyPr wrap="square" anchor="t" lIns="0" rIns="0" tIns="0" bIns="0">
            <a:spAutoFit/>
          </a:bodyPr>
          <a:lstStyle/>
          <a:p>
            <a:pPr marL="0" indent="0">
              <a:defRPr sz="1300" b="0" i="0">
                <a:solidFill>
                  <a:srgbClr val="16211C"/>
                </a:solidFill>
                <a:latin typeface="Arial"/>
              </a:defRPr>
              <a:buNone/>
            </a:pPr>
            <a:r>
              <a:t>Fund Positioning: 80–160 words. Every number benchmark-relative with the benchmark named in full on first use.</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ontact and disclaimer">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CONTACT</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nedgroup-green.png"/>
          <p:cNvPicPr>
            <a:picLocks noChangeAspect="1"/>
          </p:cNvPicPr>
          <p:nvPr/>
        </p:nvPicPr>
        <p:blipFill>
          <a:blip r:embed="rId2"/>
          <a:stretch>
            <a:fillRect/>
          </a:stretch>
        </p:blipFill>
        <p:spPr>
          <a:xfrm>
            <a:off x="640080" y="1143000"/>
            <a:ext cx="883818" cy="822960"/>
          </a:xfrm>
          <a:prstGeom prst="rect">
            <a:avLst/>
          </a:prstGeom>
        </p:spPr>
      </p:pic>
      <p:sp>
        <p:nvSpPr>
          <p:cNvPr id="9" name="Contact heading"/>
          <p:cNvSpPr txBox="1"/>
          <p:nvPr>
            <p:ph type="title" idx="0"/>
          </p:nvPr>
        </p:nvSpPr>
        <p:spPr>
          <a:xfrm>
            <a:off x="640080" y="2194560"/>
            <a:ext cx="5486400" cy="640080"/>
          </a:xfrm>
          <a:prstGeom prst="rect">
            <a:avLst/>
          </a:prstGeom>
          <a:noFill/>
        </p:spPr>
        <p:txBody>
          <a:bodyPr wrap="square" anchor="t" lIns="0" rIns="0" tIns="0" bIns="0">
            <a:spAutoFit/>
          </a:bodyPr>
          <a:lstStyle/>
          <a:p>
            <a:pPr marL="0" indent="0">
              <a:defRPr sz="2400" b="0" i="0">
                <a:solidFill>
                  <a:srgbClr val="16211C"/>
                </a:solidFill>
                <a:latin typeface="Georgia"/>
              </a:defRPr>
              <a:buNone/>
            </a:pPr>
            <a:r>
              <a:t>For more information</a:t>
            </a:r>
          </a:p>
        </p:txBody>
      </p:sp>
      <p:sp>
        <p:nvSpPr>
          <p:cNvPr id="10" name="Contact details"/>
          <p:cNvSpPr txBox="1"/>
          <p:nvPr>
            <p:ph type="body" idx="1" sz="quarter"/>
          </p:nvPr>
        </p:nvSpPr>
        <p:spPr>
          <a:xfrm>
            <a:off x="640080" y="2880360"/>
            <a:ext cx="4937760" cy="1463040"/>
          </a:xfrm>
          <a:prstGeom prst="rect">
            <a:avLst/>
          </a:prstGeom>
          <a:noFill/>
        </p:spPr>
        <p:txBody>
          <a:bodyPr wrap="square" anchor="t" lIns="0" rIns="0" tIns="0" bIns="0">
            <a:spAutoFit/>
          </a:bodyPr>
          <a:lstStyle/>
          <a:p>
            <a:pPr marL="0" indent="0">
              <a:defRPr sz="1200" b="0" i="0">
                <a:solidFill>
                  <a:srgbClr val="16211C"/>
                </a:solidFill>
                <a:latin typeface="Arial"/>
              </a:defRPr>
              <a:buNone/>
            </a:pPr>
            <a:r>
              <a:t>www.nedgroupinvestments.com</a:t>
            </a:r>
          </a:p>
          <a:p>
            <a:pPr marL="0" indent="0">
              <a:defRPr sz="1200" b="0" i="0">
                <a:solidFill>
                  <a:srgbClr val="16211C"/>
                </a:solidFill>
                <a:latin typeface="Arial"/>
              </a:defRPr>
              <a:buNone/>
            </a:pPr>
            <a:r>
              <a:t>0800 123 263 (RSA only) · +27 21 412 2003</a:t>
            </a:r>
          </a:p>
          <a:p>
            <a:pPr marL="0" indent="0">
              <a:defRPr sz="1200" b="0" i="0">
                <a:solidFill>
                  <a:srgbClr val="16211C"/>
                </a:solidFill>
                <a:latin typeface="Arial"/>
              </a:defRPr>
              <a:buNone/>
            </a:pPr>
            <a:r>
              <a:t>clientservices@nedgroupinvestments.co.za</a:t>
            </a:r>
          </a:p>
        </p:txBody>
      </p:sp>
      <p:sp>
        <p:nvSpPr>
          <p:cNvPr id="11" name="Disclaimer"/>
          <p:cNvSpPr txBox="1"/>
          <p:nvPr>
            <p:ph type="body" idx="2" sz="quarter"/>
          </p:nvPr>
        </p:nvSpPr>
        <p:spPr>
          <a:xfrm>
            <a:off x="5943600" y="1143000"/>
            <a:ext cx="5605272" cy="4937760"/>
          </a:xfrm>
          <a:prstGeom prst="rect">
            <a:avLst/>
          </a:prstGeom>
          <a:noFill/>
        </p:spPr>
        <p:txBody>
          <a:bodyPr wrap="square" anchor="t" lIns="0" rIns="0" tIns="0" bIns="0">
            <a:spAutoFit/>
          </a:bodyPr>
          <a:lstStyle/>
          <a:p>
            <a:pPr marL="0" indent="0">
              <a:defRPr sz="950" b="0" i="0">
                <a:solidFill>
                  <a:srgbClr val="5D6B63"/>
                </a:solidFill>
                <a:latin typeface="Arial"/>
              </a:defRPr>
              <a:buNone/>
            </a:pPr>
            <a:r>
              <a:t>Nedgroup Collective Investments (RF) Proprietary Limited administers the Nedgroup Investments unit trust portfolios and is authorised to do so as a manager in terms of the Collective Investment Schemes Control Act. Collective Investment Schemes (unit trusts) are generally medium to long-term investments. The value of participatory interests (units) or the investment may go down as well as up and past performance is not necessarily a guide to future performance. Nedgroup Investments does not guarantee the performance of your investment and the investor will carry the investment and market risk, which includes the possibility of losing capital.</a:t>
            </a:r>
          </a:p>
        </p:txBody>
      </p:sp>
      <p:sp>
        <p:nvSpPr>
          <p:cNvPr id="12" name="TextBox 11"/>
          <p:cNvSpPr txBox="1"/>
          <p:nvPr/>
        </p:nvSpPr>
        <p:spPr>
          <a:xfrm>
            <a:off x="640080" y="5120640"/>
            <a:ext cx="4572000" cy="365760"/>
          </a:xfrm>
          <a:prstGeom prst="rect">
            <a:avLst/>
          </a:prstGeom>
          <a:noFill/>
        </p:spPr>
        <p:txBody>
          <a:bodyPr wrap="square" lIns="0" rIns="0" tIns="0" bIns="0" anchor="t">
            <a:spAutoFit/>
          </a:bodyPr>
          <a:lstStyle/>
          <a:p>
            <a:pPr algn="l"/>
            <a:r>
              <a:rPr sz="1600" b="0" i="1">
                <a:solidFill>
                  <a:srgbClr val="0B5138"/>
                </a:solidFill>
                <a:latin typeface="Georgia"/>
              </a:rPr>
              <a:t>see money differently</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ntent">
    <p:spTree>
      <p:nvGrpSpPr>
        <p:cNvPr id="1" name=""/>
        <p:cNvGrpSpPr/>
        <p:nvPr/>
      </p:nvGrpSpPr>
      <p:grpSpPr>
        <a:xfrm>
          <a:off x="0" y="0"/>
          <a:ext cx="0" cy="0"/>
          <a:chOff x="0" y="0"/>
          <a:chExt cx="0" cy="0"/>
        </a:xfrm>
      </p:grpSpPr>
      <p:sp>
        <p:nvSpPr>
          <p:cNvPr id="2" name="Section label"/>
          <p:cNvSpPr txBox="1"/>
          <p:nvPr>
            <p:ph type="body" idx="10" sz="quarter"/>
          </p:nvPr>
        </p:nvSpPr>
        <p:spPr>
          <a:xfrm>
            <a:off x="640080" y="457200"/>
            <a:ext cx="7315200" cy="320040"/>
          </a:xfrm>
          <a:prstGeom prst="rect">
            <a:avLst/>
          </a:prstGeom>
          <a:noFill/>
        </p:spPr>
        <p:txBody>
          <a:bodyPr wrap="square" anchor="t" lIns="0" rIns="0" tIns="0" bIns="0">
            <a:spAutoFit/>
          </a:bodyPr>
          <a:lstStyle/>
          <a:p>
            <a:pPr marL="0" indent="0">
              <a:defRPr sz="1000" b="1" i="0" spc="240">
                <a:solidFill>
                  <a:srgbClr val="0B5138"/>
                </a:solidFill>
                <a:latin typeface="Arial"/>
              </a:defRPr>
              <a:buNone/>
            </a:pPr>
            <a:r>
              <a:t>SECTION</a:t>
            </a:r>
          </a:p>
        </p:txBody>
      </p:sp>
      <p:sp>
        <p:nvSpPr>
          <p:cNvPr id="3" name="Period"/>
          <p:cNvSpPr txBox="1"/>
          <p:nvPr>
            <p:ph type="body" idx="11" sz="quarter"/>
          </p:nvPr>
        </p:nvSpPr>
        <p:spPr>
          <a:xfrm>
            <a:off x="8778240" y="457200"/>
            <a:ext cx="2770632" cy="320040"/>
          </a:xfrm>
          <a:prstGeom prst="rect">
            <a:avLst/>
          </a:prstGeom>
          <a:noFill/>
        </p:spPr>
        <p:txBody>
          <a:bodyPr wrap="square" anchor="t" lIns="0" rIns="0" tIns="0" bIns="0">
            <a:spAutoFit/>
          </a:bodyPr>
          <a:lstStyle/>
          <a:p>
            <a:pPr algn="r" marL="0" indent="0">
              <a:defRPr sz="1000" b="0" i="0" spc="200">
                <a:solidFill>
                  <a:srgbClr val="8B968F"/>
                </a:solidFill>
                <a:latin typeface="Arial"/>
              </a:defRPr>
              <a:buNone/>
            </a:pPr>
            <a:r>
              <a:t>Q2 2026</a:t>
            </a:r>
          </a:p>
        </p:txBody>
      </p:sp>
      <p:sp>
        <p:nvSpPr>
          <p:cNvPr id="4" name="Rectangle 3"/>
          <p:cNvSpPr/>
          <p:nvPr/>
        </p:nvSpPr>
        <p:spPr>
          <a:xfrm>
            <a:off x="640080" y="868680"/>
            <a:ext cx="10908792" cy="9525"/>
          </a:xfrm>
          <a:prstGeom prst="rect">
            <a:avLst/>
          </a:prstGeom>
          <a:solidFill>
            <a:srgbClr val="0B5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oter left"/>
          <p:cNvSpPr txBox="1"/>
          <p:nvPr>
            <p:ph type="body" idx="40" sz="quarter"/>
          </p:nvPr>
        </p:nvSpPr>
        <p:spPr>
          <a:xfrm>
            <a:off x="640080" y="6382512"/>
            <a:ext cx="5486400" cy="274320"/>
          </a:xfrm>
          <a:prstGeom prst="rect">
            <a:avLst/>
          </a:prstGeom>
          <a:noFill/>
        </p:spPr>
        <p:txBody>
          <a:bodyPr wrap="square" anchor="t" lIns="0" rIns="0" tIns="0" bIns="0">
            <a:spAutoFit/>
          </a:bodyPr>
          <a:lstStyle/>
          <a:p>
            <a:pPr marL="0" indent="0">
              <a:defRPr sz="800" b="0" i="0" spc="160">
                <a:solidFill>
                  <a:srgbClr val="8B968F"/>
                </a:solidFill>
                <a:latin typeface="Arial"/>
              </a:defRPr>
              <a:buNone/>
            </a:pPr>
            <a:r>
              <a:t>NEDGROUP INVESTMENTS BALANCED FUND</a:t>
            </a:r>
          </a:p>
        </p:txBody>
      </p:sp>
      <p:sp>
        <p:nvSpPr>
          <p:cNvPr id="6" name="Footer right"/>
          <p:cNvSpPr txBox="1"/>
          <p:nvPr>
            <p:ph type="body" idx="41" sz="quarter"/>
          </p:nvPr>
        </p:nvSpPr>
        <p:spPr>
          <a:xfrm>
            <a:off x="6126480" y="6382512"/>
            <a:ext cx="5422392" cy="274320"/>
          </a:xfrm>
          <a:prstGeom prst="rect">
            <a:avLst/>
          </a:prstGeom>
          <a:noFill/>
        </p:spPr>
        <p:txBody>
          <a:bodyPr wrap="square" anchor="t" lIns="0" rIns="0" tIns="0" bIns="0">
            <a:spAutoFit/>
          </a:bodyPr>
          <a:lstStyle/>
          <a:p>
            <a:pPr algn="r" marL="0" indent="0">
              <a:defRPr sz="800" b="0" i="0" spc="160">
                <a:solidFill>
                  <a:srgbClr val="8B968F"/>
                </a:solidFill>
                <a:latin typeface="Arial"/>
              </a:defRPr>
              <a:buNone/>
            </a:pPr>
            <a:r>
              <a:t>Source: Nedgroup Investments, 30 June 2026</a:t>
            </a:r>
          </a:p>
        </p:txBody>
      </p:sp>
      <p:sp>
        <p:nvSpPr>
          <p:cNvPr id="7" name="Rectangle 6"/>
          <p:cNvSpPr/>
          <p:nvPr/>
        </p:nvSpPr>
        <p:spPr>
          <a:xfrm>
            <a:off x="640080" y="6263640"/>
            <a:ext cx="10908792" cy="9525"/>
          </a:xfrm>
          <a:prstGeom prst="rect">
            <a:avLst/>
          </a:prstGeom>
          <a:solidFill>
            <a:srgbClr val="D8E3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tle"/>
          <p:cNvSpPr txBox="1"/>
          <p:nvPr>
            <p:ph type="title" idx="0"/>
          </p:nvPr>
        </p:nvSpPr>
        <p:spPr>
          <a:xfrm>
            <a:off x="640080" y="1097280"/>
            <a:ext cx="10881360" cy="822960"/>
          </a:xfrm>
          <a:prstGeom prst="rect">
            <a:avLst/>
          </a:prstGeom>
          <a:noFill/>
        </p:spPr>
        <p:txBody>
          <a:bodyPr wrap="square" anchor="t" lIns="0" rIns="0" tIns="0" bIns="0">
            <a:spAutoFit/>
          </a:bodyPr>
          <a:lstStyle/>
          <a:p>
            <a:pPr marL="0" indent="0">
              <a:defRPr sz="3000" b="0" i="0">
                <a:solidFill>
                  <a:srgbClr val="16211C"/>
                </a:solidFill>
                <a:latin typeface="Georgia"/>
              </a:defRPr>
              <a:buNone/>
            </a:pPr>
            <a:r>
              <a:t>Slide title in Georgia</a:t>
            </a:r>
          </a:p>
        </p:txBody>
      </p:sp>
      <p:sp>
        <p:nvSpPr>
          <p:cNvPr id="9" name="Body"/>
          <p:cNvSpPr txBox="1"/>
          <p:nvPr>
            <p:ph type="body" idx="1" sz="quarter"/>
          </p:nvPr>
        </p:nvSpPr>
        <p:spPr>
          <a:xfrm>
            <a:off x="640080" y="2103120"/>
            <a:ext cx="10908792" cy="3931920"/>
          </a:xfrm>
          <a:prstGeom prst="rect">
            <a:avLst/>
          </a:prstGeom>
          <a:noFill/>
        </p:spPr>
        <p:txBody>
          <a:bodyPr wrap="square" anchor="t" lIns="0" rIns="0" tIns="0" bIns="0">
            <a:spAutoFit/>
          </a:bodyPr>
          <a:lstStyle/>
          <a:p>
            <a:pPr marL="0" indent="0">
              <a:defRPr sz="1300" b="0" i="0">
                <a:solidFill>
                  <a:srgbClr val="16211C"/>
                </a:solidFill>
                <a:latin typeface="Arial"/>
              </a:defRPr>
              <a:buNone/>
            </a:pPr>
            <a:r>
              <a:t>Body text in Arial, 13pt, ink. Use bright rules sparingly; keep layouts light.</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itle 2"/>
          <p:cNvSpPr>
            <a:spLocks noGrp="1"/>
          </p:cNvSpPr>
          <p:nvPr>
            <p:ph type="ctrTitle"/>
          </p:nvPr>
        </p:nvSpPr>
        <p:spPr/>
        <p:txBody>
          <a:bodyPr/>
          <a:lstStyle/>
          <a:p/>
        </p:txBody>
      </p:sp>
      <p:sp>
        <p:nvSpPr>
          <p:cNvPr id="4" name="Subtitle 3"/>
          <p:cNvSpPr>
            <a:spLocks noGrp="1"/>
          </p:cNvSpPr>
          <p:nvPr>
            <p:ph type="subTitle" idx="1"/>
          </p:nvPr>
        </p:nvSpPr>
        <p:spPr/>
        <p:txBody>
          <a:bodyPr/>
          <a:lstStyle/>
          <a:p/>
        </p:txBody>
      </p:sp>
      <p:sp>
        <p:nvSpPr>
          <p:cNvPr id="5" name="Text Placeholder 4"/>
          <p:cNvSpPr>
            <a:spLocks noGrp="1"/>
          </p:cNvSpPr>
          <p:nvPr>
            <p:ph type="body" idx="20" sz="quarter"/>
          </p:nvPr>
        </p:nvSpPr>
        <p:spPr/>
        <p:txBody>
          <a:bodyPr/>
          <a:lstStyle/>
          <a:p/>
        </p:txBody>
      </p:sp>
      <p:sp>
        <p:nvSpPr>
          <p:cNvPr id="6" name="Text Placeholder 5"/>
          <p:cNvSpPr>
            <a:spLocks noGrp="1"/>
          </p:cNvSpPr>
          <p:nvPr>
            <p:ph type="body" idx="21" sz="quarter"/>
          </p:nvPr>
        </p:nvSpPr>
        <p:spPr/>
        <p:txBody>
          <a:bodyPr/>
          <a:lstStyle/>
          <a:p/>
        </p:txBody>
      </p:sp>
      <p:sp>
        <p:nvSpPr>
          <p:cNvPr id="7" name="Text Placeholder 6"/>
          <p:cNvSpPr>
            <a:spLocks noGrp="1"/>
          </p:cNvSpPr>
          <p:nvPr>
            <p:ph type="body" idx="22" sz="quarter"/>
          </p:nvPr>
        </p:nvSpPr>
        <p:spPr/>
        <p:txBody>
          <a:bodyPr/>
          <a:lstStyle/>
          <a:p/>
        </p:txBody>
      </p:sp>
      <p:sp>
        <p:nvSpPr>
          <p:cNvPr id="8" name="Text Placeholder 7"/>
          <p:cNvSpPr>
            <a:spLocks noGrp="1"/>
          </p:cNvSpPr>
          <p:nvPr>
            <p:ph type="body" idx="23" sz="quarter"/>
          </p:nvPr>
        </p:nvSpPr>
        <p:spPr/>
        <p:txBody>
          <a:bodyPr/>
          <a:lstStyle/>
          <a:p/>
        </p:txBody>
      </p:sp>
      <p:sp>
        <p:nvSpPr>
          <p:cNvPr id="9" name="Text Placeholder 8"/>
          <p:cNvSpPr>
            <a:spLocks noGrp="1"/>
          </p:cNvSpPr>
          <p:nvPr>
            <p:ph type="body" idx="30"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itle 5"/>
          <p:cNvSpPr>
            <a:spLocks noGrp="1"/>
          </p:cNvSpPr>
          <p:nvPr>
            <p:ph type="title"/>
          </p:nvPr>
        </p:nvSpPr>
        <p:spPr/>
        <p:txBody>
          <a:bodyPr/>
          <a:lstStyle/>
          <a:p/>
        </p:txBody>
      </p:sp>
      <p:sp>
        <p:nvSpPr>
          <p:cNvPr id="7" name="Text Placeholder 6"/>
          <p:cNvSpPr>
            <a:spLocks noGrp="1"/>
          </p:cNvSpPr>
          <p:nvPr>
            <p:ph type="body" idx="1" sz="quarter"/>
          </p:nvPr>
        </p:nvSpPr>
        <p:spPr/>
        <p:txBody>
          <a:bodyPr/>
          <a:lstStyle/>
          <a:p/>
        </p:txBody>
      </p:sp>
      <p:sp>
        <p:nvSpPr>
          <p:cNvPr id="8" name="Text Placeholder 7"/>
          <p:cNvSpPr>
            <a:spLocks noGrp="1"/>
          </p:cNvSpPr>
          <p:nvPr>
            <p:ph type="body" idx="2"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20" sz="quarter"/>
          </p:nvPr>
        </p:nvSpPr>
        <p:spPr/>
        <p:txBody>
          <a:bodyPr/>
          <a:lstStyle/>
          <a:p/>
        </p:txBody>
      </p:sp>
      <p:sp>
        <p:nvSpPr>
          <p:cNvPr id="7" name="Text Placeholder 6"/>
          <p:cNvSpPr>
            <a:spLocks noGrp="1"/>
          </p:cNvSpPr>
          <p:nvPr>
            <p:ph type="body" idx="21" sz="quarter"/>
          </p:nvPr>
        </p:nvSpPr>
        <p:spPr/>
        <p:txBody>
          <a:bodyPr/>
          <a:lstStyle/>
          <a:p/>
        </p:txBody>
      </p:sp>
      <p:sp>
        <p:nvSpPr>
          <p:cNvPr id="8" name="Text Placeholder 7"/>
          <p:cNvSpPr>
            <a:spLocks noGrp="1"/>
          </p:cNvSpPr>
          <p:nvPr>
            <p:ph type="body" idx="22" sz="quarter"/>
          </p:nvPr>
        </p:nvSpPr>
        <p:spPr/>
        <p:txBody>
          <a:bodyPr/>
          <a:lstStyle/>
          <a:p/>
        </p:txBody>
      </p:sp>
      <p:sp>
        <p:nvSpPr>
          <p:cNvPr id="9" name="Title 8"/>
          <p:cNvSpPr>
            <a:spLocks noGrp="1"/>
          </p:cNvSpPr>
          <p:nvPr>
            <p:ph type="title"/>
          </p:nvPr>
        </p:nvSpPr>
        <p:spPr/>
        <p:txBody>
          <a:bodyPr/>
          <a:lstStyle/>
          <a:p/>
        </p:txBody>
      </p:sp>
      <p:sp>
        <p:nvSpPr>
          <p:cNvPr id="10" name="Text Placeholder 9"/>
          <p:cNvSpPr>
            <a:spLocks noGrp="1"/>
          </p:cNvSpPr>
          <p:nvPr>
            <p:ph type="body" idx="1"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20" sz="quarter"/>
          </p:nvPr>
        </p:nvSpPr>
        <p:spPr/>
        <p:txBody>
          <a:bodyPr/>
          <a:lstStyle/>
          <a:p/>
        </p:txBody>
      </p:sp>
      <p:sp>
        <p:nvSpPr>
          <p:cNvPr id="7" name="Text Placeholder 6"/>
          <p:cNvSpPr>
            <a:spLocks noGrp="1"/>
          </p:cNvSpPr>
          <p:nvPr>
            <p:ph type="body" idx="21" sz="quarter"/>
          </p:nvPr>
        </p:nvSpPr>
        <p:spPr/>
        <p:txBody>
          <a:bodyPr/>
          <a:lstStyle/>
          <a:p/>
        </p:txBody>
      </p:sp>
      <p:sp>
        <p:nvSpPr>
          <p:cNvPr id="8" name="Text Placeholder 7"/>
          <p:cNvSpPr>
            <a:spLocks noGrp="1"/>
          </p:cNvSpPr>
          <p:nvPr>
            <p:ph type="body" idx="22" sz="quarter"/>
          </p:nvPr>
        </p:nvSpPr>
        <p:spPr/>
        <p:txBody>
          <a:bodyPr/>
          <a:lstStyle/>
          <a:p/>
        </p:txBody>
      </p:sp>
      <p:sp>
        <p:nvSpPr>
          <p:cNvPr id="9" name="Title 8"/>
          <p:cNvSpPr>
            <a:spLocks noGrp="1"/>
          </p:cNvSpPr>
          <p:nvPr>
            <p:ph type="title"/>
          </p:nvPr>
        </p:nvSpPr>
        <p:spPr/>
        <p:txBody>
          <a:bodyPr/>
          <a:lstStyle/>
          <a:p/>
        </p:txBody>
      </p:sp>
      <p:sp>
        <p:nvSpPr>
          <p:cNvPr id="10" name="Text Placeholder 9"/>
          <p:cNvSpPr>
            <a:spLocks noGrp="1"/>
          </p:cNvSpPr>
          <p:nvPr>
            <p:ph type="body" idx="1"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20" sz="quarter"/>
          </p:nvPr>
        </p:nvSpPr>
        <p:spPr/>
        <p:txBody>
          <a:bodyPr/>
          <a:lstStyle/>
          <a:p/>
        </p:txBody>
      </p:sp>
      <p:sp>
        <p:nvSpPr>
          <p:cNvPr id="7" name="Text Placeholder 6"/>
          <p:cNvSpPr>
            <a:spLocks noGrp="1"/>
          </p:cNvSpPr>
          <p:nvPr>
            <p:ph type="body" idx="21" sz="quarter"/>
          </p:nvPr>
        </p:nvSpPr>
        <p:spPr/>
        <p:txBody>
          <a:bodyPr/>
          <a:lstStyle/>
          <a:p/>
        </p:txBody>
      </p:sp>
      <p:sp>
        <p:nvSpPr>
          <p:cNvPr id="8" name="Text Placeholder 7"/>
          <p:cNvSpPr>
            <a:spLocks noGrp="1"/>
          </p:cNvSpPr>
          <p:nvPr>
            <p:ph type="body" idx="22" sz="quarter"/>
          </p:nvPr>
        </p:nvSpPr>
        <p:spPr/>
        <p:txBody>
          <a:bodyPr/>
          <a:lstStyle/>
          <a:p/>
        </p:txBody>
      </p:sp>
      <p:sp>
        <p:nvSpPr>
          <p:cNvPr id="9" name="Title 8"/>
          <p:cNvSpPr>
            <a:spLocks noGrp="1"/>
          </p:cNvSpPr>
          <p:nvPr>
            <p:ph type="title"/>
          </p:nvPr>
        </p:nvSpPr>
        <p:spPr/>
        <p:txBody>
          <a:bodyPr/>
          <a:lstStyle/>
          <a:p/>
        </p:txBody>
      </p:sp>
      <p:sp>
        <p:nvSpPr>
          <p:cNvPr id="10" name="Text Placeholder 9"/>
          <p:cNvSpPr>
            <a:spLocks noGrp="1"/>
          </p:cNvSpPr>
          <p:nvPr>
            <p:ph type="body" idx="1"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itle 5"/>
          <p:cNvSpPr>
            <a:spLocks noGrp="1"/>
          </p:cNvSpPr>
          <p:nvPr>
            <p:ph type="title"/>
          </p:nvPr>
        </p:nvSpPr>
        <p:spPr/>
        <p:txBody>
          <a:bodyPr/>
          <a:lstStyle/>
          <a:p/>
        </p:txBody>
      </p:sp>
      <p:sp>
        <p:nvSpPr>
          <p:cNvPr id="7" name="Text Placeholder 6"/>
          <p:cNvSpPr>
            <a:spLocks noGrp="1"/>
          </p:cNvSpPr>
          <p:nvPr>
            <p:ph type="body" idx="1" sz="quarter"/>
          </p:nvPr>
        </p:nvSpPr>
        <p:spPr/>
        <p:txBody>
          <a:bodyPr/>
          <a:lstStyle/>
          <a:p/>
        </p:txBody>
      </p:sp>
      <p:sp>
        <p:nvSpPr>
          <p:cNvPr id="8" name="Text Placeholder 7"/>
          <p:cNvSpPr>
            <a:spLocks noGrp="1"/>
          </p:cNvSpPr>
          <p:nvPr>
            <p:ph type="body" idx="2"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itle 5"/>
          <p:cNvSpPr>
            <a:spLocks noGrp="1"/>
          </p:cNvSpPr>
          <p:nvPr>
            <p:ph type="title"/>
          </p:nvPr>
        </p:nvSpPr>
        <p:spPr/>
        <p:txBody>
          <a:bodyPr/>
          <a:lstStyle/>
          <a:p/>
        </p:txBody>
      </p:sp>
      <p:sp>
        <p:nvSpPr>
          <p:cNvPr id="7" name="Text Placeholder 6"/>
          <p:cNvSpPr>
            <a:spLocks noGrp="1"/>
          </p:cNvSpPr>
          <p:nvPr>
            <p:ph type="body" idx="1" sz="quarter"/>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